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2"/>
    <p:restoredTop sz="94686"/>
  </p:normalViewPr>
  <p:slideViewPr>
    <p:cSldViewPr snapToGrid="0">
      <p:cViewPr varScale="1">
        <p:scale>
          <a:sx n="79" d="100"/>
          <a:sy n="79" d="100"/>
        </p:scale>
        <p:origin x="22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/>
          <p:cNvPicPr>
            <a:picLocks noChangeAspect="1"/>
          </p:cNvPicPr>
          <p:nvPr/>
        </p:nvPicPr>
        <p:blipFill>
          <a:blip r:embed="rId3"/>
          <a:srcRect l="33" r="33"/>
          <a:stretch>
            <a:fillRect/>
          </a:stretch>
        </p:blipFill>
        <p:spPr>
          <a:xfrm>
            <a:off x="7429500" y="495300"/>
            <a:ext cx="1809750" cy="3219450"/>
          </a:xfrm>
          <a:prstGeom prst="roundRect">
            <a:avLst>
              <a:gd name="adj" fmla="val 7368"/>
            </a:avLst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>
          <a:blip r:embed="rId4"/>
          <a:srcRect l="33" r="33"/>
          <a:stretch>
            <a:fillRect/>
          </a:stretch>
        </p:blipFill>
        <p:spPr>
          <a:xfrm>
            <a:off x="9486900" y="495300"/>
            <a:ext cx="1809750" cy="3219450"/>
          </a:xfrm>
          <a:prstGeom prst="roundRect">
            <a:avLst>
              <a:gd name="adj" fmla="val 7368"/>
            </a:avLst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5"/>
          <a:srcRect t="12069" b="12069"/>
          <a:stretch>
            <a:fillRect/>
          </a:stretch>
        </p:blipFill>
        <p:spPr>
          <a:xfrm>
            <a:off x="7429500" y="3962400"/>
            <a:ext cx="3867150" cy="200025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3F16306-BD08-4548-9F92-A1D0E34BDC74}"/>
              </a:ext>
            </a:extLst>
          </p:cNvPr>
          <p:cNvSpPr>
            <a:spLocks noGrp="1"/>
          </p:cNvSpPr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F7F4EE">
              <a:alpha val="54000"/>
            </a:srgbClr>
          </a:solidFill>
          <a:ln w="0">
            <a:noFill/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AAE7B98-4893-4367-BD61-3A4876434093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6096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AUTOMATION PLAN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399A2EB-DE22-4A6C-9377-A6E1A115038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561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PetroSeven kiosk and virtual desktop flows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D38D9D6-ED20-4319-B467-60D691D3A2A4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547687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 concise view of what has been built, how the automation is structured, and what remains before broader rollout.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87C3C1C9-835E-4ABC-8833-ED6E1604041C}"/>
              </a:ext>
            </a:extLst>
          </p:cNvPr>
          <p:cNvSpPr>
            <a:spLocks noGrp="1"/>
          </p:cNvSpPr>
          <p:nvPr/>
        </p:nvSpPr>
        <p:spPr>
          <a:xfrm>
            <a:off x="685800" y="3695700"/>
            <a:ext cx="2762250" cy="609600"/>
          </a:xfrm>
          <a:prstGeom prst="roundRect">
            <a:avLst>
              <a:gd name="adj" fmla="val 25000"/>
            </a:avLst>
          </a:prstGeom>
          <a:solidFill>
            <a:srgbClr val="DDEBE4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9F76832-3788-4745-9E22-C5DE373074DB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B6B4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45%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22BEF6F-E0A2-49DF-B53B-D18E87B842CA}"/>
              </a:ext>
            </a:extLst>
          </p:cNvPr>
          <p:cNvSpPr>
            <a:spLocks noGrp="1"/>
          </p:cNvSpPr>
          <p:nvPr/>
        </p:nvSpPr>
        <p:spPr>
          <a:xfrm>
            <a:off x="1676400" y="383857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ready / in repo</a:t>
            </a:r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C6584CB5-8950-4770-A80D-68B6BAE2C616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2762250" cy="609600"/>
          </a:xfrm>
          <a:prstGeom prst="roundRect">
            <a:avLst>
              <a:gd name="adj" fmla="val 25000"/>
            </a:avLst>
          </a:prstGeom>
          <a:solidFill>
            <a:srgbClr val="F2E1B9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6158AD2-E452-4B73-803A-3E75710CCD32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B52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B5200"/>
                </a:solidFill>
                <a:latin typeface="Aptos Display"/>
                <a:ea typeface="Aptos Display"/>
                <a:cs typeface="Aptos Display"/>
              </a:rPr>
              <a:t>36%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44020F0-93F6-4437-99F4-55435C088C7E}"/>
              </a:ext>
            </a:extLst>
          </p:cNvPr>
          <p:cNvSpPr>
            <a:spLocks noGrp="1"/>
          </p:cNvSpPr>
          <p:nvPr/>
        </p:nvSpPr>
        <p:spPr>
          <a:xfrm>
            <a:off x="1676400" y="45815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7B52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B5200"/>
                </a:solidFill>
                <a:latin typeface="Aptos"/>
                <a:ea typeface="Aptos"/>
                <a:cs typeface="Aptos"/>
              </a:rPr>
              <a:t>remaining to automate</a:t>
            </a: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05BA41CD-4764-43B1-8FBF-7BA7B7714292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3162300" cy="609600"/>
          </a:xfrm>
          <a:prstGeom prst="roundRect">
            <a:avLst>
              <a:gd name="adj" fmla="val 25000"/>
            </a:avLst>
          </a:prstGeom>
          <a:solidFill>
            <a:srgbClr val="EBC7BE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DAE5CA5-C497-4F2A-83DC-C72BE2A1DE0D}"/>
              </a:ext>
            </a:extLst>
          </p:cNvPr>
          <p:cNvSpPr>
            <a:spLocks noGrp="1"/>
          </p:cNvSpPr>
          <p:nvPr/>
        </p:nvSpPr>
        <p:spPr>
          <a:xfrm>
            <a:off x="857250" y="527685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82719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782719"/>
                </a:solidFill>
                <a:latin typeface="Aptos Display"/>
                <a:ea typeface="Aptos Display"/>
                <a:cs typeface="Aptos Display"/>
              </a:rPr>
              <a:t>19%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70D2D6A-F030-4AF3-AC32-C91570AB72A2}"/>
              </a:ext>
            </a:extLst>
          </p:cNvPr>
          <p:cNvSpPr>
            <a:spLocks noGrp="1"/>
          </p:cNvSpPr>
          <p:nvPr/>
        </p:nvSpPr>
        <p:spPr>
          <a:xfrm>
            <a:off x="1676400" y="5324475"/>
            <a:ext cx="201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7827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2719"/>
                </a:solidFill>
                <a:latin typeface="Aptos"/>
                <a:ea typeface="Aptos"/>
                <a:cs typeface="Aptos"/>
              </a:rPr>
              <a:t>human-assisted validation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504FF97-707A-4E32-875E-71F71D64889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EC2720-9C39-49DE-A83B-23ED3BD2243A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3334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480AD834-BF08-48D5-8FBB-1158D8B9648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Project Objective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C399BE-9E00-48DB-B0C1-1A3DF5401574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Build a reliable visual automation layer for kiosk sales, login, benefits, invoice, and pump-related validation flows.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53D7A66-5ADE-4B6E-BBB8-D39499116AC0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994A1D2-D8B4-4FD3-A186-B35402DE422B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D5D0A7DF-0AE8-4E7D-8DAC-AB9A959F475F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3333750" cy="352425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8356A2-E43A-43D1-B0CC-16823BBA48B5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Core goal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F73256D-687C-47F1-959C-03A5CDF2147C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476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Reduce repetitive kiosk validation work while keeping traceable evidence for each critical step.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C974B70-DFAD-4A58-8EE4-C29042974630}"/>
              </a:ext>
            </a:extLst>
          </p:cNvPr>
          <p:cNvSpPr>
            <a:spLocks noGrp="1"/>
          </p:cNvSpPr>
          <p:nvPr/>
        </p:nvSpPr>
        <p:spPr>
          <a:xfrm>
            <a:off x="914400" y="37909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Primary surface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658FB9F-4BED-49B9-B859-37CFBE133D6A}"/>
              </a:ext>
            </a:extLst>
          </p:cNvPr>
          <p:cNvSpPr>
            <a:spLocks noGrp="1"/>
          </p:cNvSpPr>
          <p:nvPr/>
        </p:nvSpPr>
        <p:spPr>
          <a:xfrm>
            <a:off x="914400" y="409575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Kiosk UI through AnyDesk/RustDesk, supported by screenshots, image assets, and controlled manual checkpoints.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14D98E-7BB2-4757-89F4-3AD326F0B94B}"/>
              </a:ext>
            </a:extLst>
          </p:cNvPr>
          <p:cNvSpPr>
            <a:spLocks noGrp="1"/>
          </p:cNvSpPr>
          <p:nvPr/>
        </p:nvSpPr>
        <p:spPr>
          <a:xfrm>
            <a:off x="4591050" y="1847850"/>
            <a:ext cx="57150" cy="495300"/>
          </a:xfrm>
          <a:prstGeom prst="rect">
            <a:avLst/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E16667A-7F18-42DB-86F2-5DE64F182F17}"/>
              </a:ext>
            </a:extLst>
          </p:cNvPr>
          <p:cNvSpPr>
            <a:spLocks noGrp="1"/>
          </p:cNvSpPr>
          <p:nvPr/>
        </p:nvSpPr>
        <p:spPr>
          <a:xfrm>
            <a:off x="4781550" y="180975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Automated UI actions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74C788B-9276-4AF0-B8AC-7491A0859FC3}"/>
              </a:ext>
            </a:extLst>
          </p:cNvPr>
          <p:cNvSpPr>
            <a:spLocks noGrp="1"/>
          </p:cNvSpPr>
          <p:nvPr/>
        </p:nvSpPr>
        <p:spPr>
          <a:xfrm>
            <a:off x="4781550" y="209550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Image anchors and calibrated clicks for repeatable kiosk navigation.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F65B9B7-3CF5-41DF-8D7A-987CE1042622}"/>
              </a:ext>
            </a:extLst>
          </p:cNvPr>
          <p:cNvSpPr>
            <a:spLocks noGrp="1"/>
          </p:cNvSpPr>
          <p:nvPr/>
        </p:nvSpPr>
        <p:spPr>
          <a:xfrm>
            <a:off x="4591050" y="2819400"/>
            <a:ext cx="57150" cy="495300"/>
          </a:xfrm>
          <a:prstGeom prst="rect">
            <a:avLst/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C39BAF6-6374-4E1F-AF18-5537D4C15714}"/>
              </a:ext>
            </a:extLst>
          </p:cNvPr>
          <p:cNvSpPr>
            <a:spLocks noGrp="1"/>
          </p:cNvSpPr>
          <p:nvPr/>
        </p:nvSpPr>
        <p:spPr>
          <a:xfrm>
            <a:off x="4781550" y="278130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Evidence by step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59746C3-2AFA-4176-B1D4-79FE5BD7C59E}"/>
              </a:ext>
            </a:extLst>
          </p:cNvPr>
          <p:cNvSpPr>
            <a:spLocks noGrp="1"/>
          </p:cNvSpPr>
          <p:nvPr/>
        </p:nvSpPr>
        <p:spPr>
          <a:xfrm>
            <a:off x="4781550" y="306705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Screenshots and reports create an auditable record for each step.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317386AF-C52E-4A31-BA4D-F7BB48FC2F6B}"/>
              </a:ext>
            </a:extLst>
          </p:cNvPr>
          <p:cNvSpPr>
            <a:spLocks noGrp="1"/>
          </p:cNvSpPr>
          <p:nvPr/>
        </p:nvSpPr>
        <p:spPr>
          <a:xfrm>
            <a:off x="4591050" y="3790950"/>
            <a:ext cx="57150" cy="495300"/>
          </a:xfrm>
          <a:prstGeom prst="rect">
            <a:avLst/>
          </a:prstGeom>
          <a:solidFill>
            <a:srgbClr val="C7553D"/>
          </a:solidFill>
          <a:ln w="0">
            <a:noFill/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0063396-3489-4AA1-BD67-8DADDEB60181}"/>
              </a:ext>
            </a:extLst>
          </p:cNvPr>
          <p:cNvSpPr>
            <a:spLocks noGrp="1"/>
          </p:cNvSpPr>
          <p:nvPr/>
        </p:nvSpPr>
        <p:spPr>
          <a:xfrm>
            <a:off x="4781550" y="375285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Human-aware boundaries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50875E2-82AA-428E-AFAF-C234E355B125}"/>
              </a:ext>
            </a:extLst>
          </p:cNvPr>
          <p:cNvSpPr>
            <a:spLocks noGrp="1"/>
          </p:cNvSpPr>
          <p:nvPr/>
        </p:nvSpPr>
        <p:spPr>
          <a:xfrm>
            <a:off x="4781550" y="4038600"/>
            <a:ext cx="3905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Hardware, RFID, PinPad, pump operation, tickets, and external checks stay explicit.</a:t>
            </a:r>
          </a:p>
        </p:txBody>
      </p:sp>
      <p:pic>
        <p:nvPicPr>
          <p:cNvPr id="38" name="Imagen 37"/>
          <p:cNvPicPr>
            <a:picLocks noChangeAspect="1"/>
          </p:cNvPicPr>
          <p:nvPr/>
        </p:nvPicPr>
        <p:blipFill>
          <a:blip r:embed="rId3"/>
          <a:srcRect l="4338" r="4338"/>
          <a:stretch>
            <a:fillRect/>
          </a:stretch>
        </p:blipFill>
        <p:spPr>
          <a:xfrm>
            <a:off x="9525000" y="1752600"/>
            <a:ext cx="1428750" cy="2781300"/>
          </a:xfrm>
          <a:prstGeom prst="roundRect">
            <a:avLst>
              <a:gd name="adj" fmla="val 9333"/>
            </a:avLst>
          </a:prstGeom>
        </p:spPr>
      </p:pic>
    </p:spTree>
    <p:extLst>
      <p:ext uri="{BB962C8B-B14F-4D97-AF65-F5344CB8AC3E}">
        <p14:creationId xmlns:p14="http://schemas.microsoft.com/office/powerpoint/2010/main" val="1592158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E32A1CF9-816A-4833-B361-0DE3C0DD24A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Matrix Snapshot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7B91AE-12C0-4309-BEA0-BCB96B63ADF0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Revised working scope from the 63-case automation matrix analyzed on 2026-06-15.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5950A65-78C9-465D-8BA0-44F9B6205825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EA6F1B4-6B25-4400-8274-27D196886BAB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7439187F-E1BA-4D21-BEB0-C00B7EAE541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953000" cy="373380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B8D18DA-EE36-4211-AA2A-D4BF983F70F6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Ready / in repo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2B4E069-F605-42C8-A357-672214F3245A}"/>
              </a:ext>
            </a:extLst>
          </p:cNvPr>
          <p:cNvSpPr>
            <a:spLocks noGrp="1"/>
          </p:cNvSpPr>
          <p:nvPr/>
        </p:nvSpPr>
        <p:spPr>
          <a:xfrm>
            <a:off x="4419600" y="19621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45%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13E09A5-E4A8-4B34-BF17-94BF1AFDE244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4095750" cy="228600"/>
          </a:xfrm>
          <a:prstGeom prst="roundRect">
            <a:avLst>
              <a:gd name="adj" fmla="val 50000"/>
            </a:avLst>
          </a:prstGeom>
          <a:solidFill>
            <a:srgbClr val="DDEBE4"/>
          </a:solidFill>
          <a:ln w="0">
            <a:noFill/>
            <a:prstDash val="solid"/>
          </a:ln>
        </p:spPr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11BEE359-C428-4DFC-8605-FCBC7DC2DB7D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1847850" cy="228600"/>
          </a:xfrm>
          <a:prstGeom prst="roundRect">
            <a:avLst>
              <a:gd name="adj" fmla="val 50000"/>
            </a:avLst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418ECE8-8797-4C1D-85C8-7516E37BBD41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24 of </a:t>
            </a:r>
            <a:r>
              <a:rPr lang="es-ES" sz="975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53</a:t>
            </a:r>
            <a:r>
              <a:rPr sz="975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cases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D2F0492-A404-4E80-B009-AB6BE95CCE9D}"/>
              </a:ext>
            </a:extLst>
          </p:cNvPr>
          <p:cNvSpPr>
            <a:spLocks noGrp="1"/>
          </p:cNvSpPr>
          <p:nvPr/>
        </p:nvSpPr>
        <p:spPr>
          <a:xfrm>
            <a:off x="990600" y="30289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Remaining to automate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69D3E19-2365-44F1-B257-1B9C5ABC9465}"/>
              </a:ext>
            </a:extLst>
          </p:cNvPr>
          <p:cNvSpPr>
            <a:spLocks noGrp="1"/>
          </p:cNvSpPr>
          <p:nvPr/>
        </p:nvSpPr>
        <p:spPr>
          <a:xfrm>
            <a:off x="4419600" y="30289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36%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7D77B8AC-45E8-4CD2-BB74-02E692B2B073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4095750" cy="228600"/>
          </a:xfrm>
          <a:prstGeom prst="roundRect">
            <a:avLst>
              <a:gd name="adj" fmla="val 50000"/>
            </a:avLst>
          </a:prstGeom>
          <a:solidFill>
            <a:srgbClr val="F2E1B9"/>
          </a:solidFill>
          <a:ln w="0">
            <a:noFill/>
            <a:prstDash val="solid"/>
          </a:ln>
        </p:spPr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DE215998-07A4-4A90-ACD2-DA621C0C2E66}"/>
              </a:ext>
            </a:extLst>
          </p:cNvPr>
          <p:cNvSpPr>
            <a:spLocks noGrp="1"/>
          </p:cNvSpPr>
          <p:nvPr/>
        </p:nvSpPr>
        <p:spPr>
          <a:xfrm>
            <a:off x="990600" y="3333750"/>
            <a:ext cx="1476375" cy="228600"/>
          </a:xfrm>
          <a:prstGeom prst="roundRect">
            <a:avLst>
              <a:gd name="adj" fmla="val 50000"/>
            </a:avLst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229CA94-9376-4D07-BBD4-C61F94969AE6}"/>
              </a:ext>
            </a:extLst>
          </p:cNvPr>
          <p:cNvSpPr>
            <a:spLocks noGrp="1"/>
          </p:cNvSpPr>
          <p:nvPr/>
        </p:nvSpPr>
        <p:spPr>
          <a:xfrm>
            <a:off x="990600" y="36385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19 of 53 cases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9A00A76-F460-4740-A65E-A00C3D8AEE25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Human-assisted validation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8E5C249-3809-46E5-AEC8-BD947005739D}"/>
              </a:ext>
            </a:extLst>
          </p:cNvPr>
          <p:cNvSpPr>
            <a:spLocks noGrp="1"/>
          </p:cNvSpPr>
          <p:nvPr/>
        </p:nvSpPr>
        <p:spPr>
          <a:xfrm>
            <a:off x="4419600" y="40957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19%</a:t>
            </a: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7CFA6D29-245F-470F-BC01-9CA01379F97F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4095750" cy="228600"/>
          </a:xfrm>
          <a:prstGeom prst="roundRect">
            <a:avLst>
              <a:gd name="adj" fmla="val 50000"/>
            </a:avLst>
          </a:prstGeom>
          <a:solidFill>
            <a:srgbClr val="EBC7BE"/>
          </a:solidFill>
          <a:ln w="0">
            <a:noFill/>
            <a:prstDash val="solid"/>
          </a:ln>
        </p:spPr>
      </p:sp>
      <p:sp>
        <p:nvSpPr>
          <p:cNvPr id="19" name="Rectángulo redondeado 18">
            <a:extLst>
              <a:ext uri="{FF2B5EF4-FFF2-40B4-BE49-F238E27FC236}">
                <a16:creationId xmlns:a16="http://schemas.microsoft.com/office/drawing/2014/main" id="{5FCC1FF7-1CFF-48F4-B026-2876DEC375B3}"/>
              </a:ext>
            </a:extLst>
          </p:cNvPr>
          <p:cNvSpPr>
            <a:spLocks noGrp="1"/>
          </p:cNvSpPr>
          <p:nvPr/>
        </p:nvSpPr>
        <p:spPr>
          <a:xfrm>
            <a:off x="990600" y="4400550"/>
            <a:ext cx="781050" cy="228600"/>
          </a:xfrm>
          <a:prstGeom prst="roundRect">
            <a:avLst>
              <a:gd name="adj" fmla="val 50000"/>
            </a:avLst>
          </a:prstGeom>
          <a:solidFill>
            <a:srgbClr val="C7553D"/>
          </a:solidFill>
          <a:ln w="0">
            <a:noFill/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7C31C2B-9BE6-4BFB-A811-6EAE3DEC12A5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409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10 of </a:t>
            </a:r>
            <a:r>
              <a:rPr lang="es-ES" sz="975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6</a:t>
            </a:r>
            <a:r>
              <a:rPr sz="975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3 cases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412FC7E-BB28-4159-8A9E-0EBE917D3A76}"/>
              </a:ext>
            </a:extLst>
          </p:cNvPr>
          <p:cNvSpPr>
            <a:spLocks noGrp="1"/>
          </p:cNvSpPr>
          <p:nvPr/>
        </p:nvSpPr>
        <p:spPr>
          <a:xfrm>
            <a:off x="6229350" y="21717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How to read it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8BD2007-042D-437C-9825-61A6F3082602}"/>
              </a:ext>
            </a:extLst>
          </p:cNvPr>
          <p:cNvSpPr>
            <a:spLocks noGrp="1"/>
          </p:cNvSpPr>
          <p:nvPr/>
        </p:nvSpPr>
        <p:spPr>
          <a:xfrm>
            <a:off x="6191250" y="2752725"/>
            <a:ext cx="45720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The working scope now includes 10 cases that can run in parallel with a person at the station completing the physical validation. Only the remaining 10 hard-dependency cases stay outside the completion percentage.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84491F56-FD24-4975-ABED-2F5C981778C9}"/>
              </a:ext>
            </a:extLst>
          </p:cNvPr>
          <p:cNvSpPr>
            <a:spLocks noGrp="1"/>
          </p:cNvSpPr>
          <p:nvPr/>
        </p:nvSpPr>
        <p:spPr>
          <a:xfrm>
            <a:off x="6191250" y="5572125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Source: PetroSeven automation matrix, revised scope; 10 hard-dependency cases remain excluded.</a:t>
            </a:r>
          </a:p>
        </p:txBody>
      </p:sp>
    </p:spTree>
    <p:extLst>
      <p:ext uri="{BB962C8B-B14F-4D97-AF65-F5344CB8AC3E}">
        <p14:creationId xmlns:p14="http://schemas.microsoft.com/office/powerpoint/2010/main" val="178721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6C57F3B3-438E-4326-A836-B82BE2CE700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What Has Been Built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C227F3F-F4F1-48E4-AA3A-26B67F69E1D7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The current repo already contains a practical automation base and multiple flow-level building blocks.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22B85A-C73C-4217-9167-0F7DF941E1B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B26A7E-7CAB-40E5-95D4-9804A5C8503F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D1DB9F2-6343-4D49-959F-FC11F9DC0FB6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32766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711FE5D8-2EC9-4D40-B726-DCA359E02FA5}"/>
              </a:ext>
            </a:extLst>
          </p:cNvPr>
          <p:cNvSpPr>
            <a:spLocks noGrp="1"/>
          </p:cNvSpPr>
          <p:nvPr/>
        </p:nvSpPr>
        <p:spPr>
          <a:xfrm>
            <a:off x="895350" y="1866900"/>
            <a:ext cx="171450" cy="171450"/>
          </a:xfrm>
          <a:prstGeom prst="ellipse">
            <a:avLst/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A52C027-624B-4C7E-9FE2-20CD4C888147}"/>
              </a:ext>
            </a:extLst>
          </p:cNvPr>
          <p:cNvSpPr>
            <a:spLocks noGrp="1"/>
          </p:cNvSpPr>
          <p:nvPr/>
        </p:nvSpPr>
        <p:spPr>
          <a:xfrm>
            <a:off x="1181100" y="1809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Login flow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9BED08-5C45-441C-9DB8-D6A833D5B651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Standard employee login,</a:t>
            </a:r>
            <a:r>
              <a:rPr lang="es-ES"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7ly login,</a:t>
            </a: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welcome modal, and return-to-start validation.</a:t>
            </a:r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019865BE-B3B0-4F69-B77E-EA9DA8A8A0C5}"/>
              </a:ext>
            </a:extLst>
          </p:cNvPr>
          <p:cNvSpPr>
            <a:spLocks noGrp="1"/>
          </p:cNvSpPr>
          <p:nvPr/>
        </p:nvSpPr>
        <p:spPr>
          <a:xfrm>
            <a:off x="4283855" y="1660071"/>
            <a:ext cx="32766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022DD50-568C-4544-82DA-F5B7AE47F40A}"/>
              </a:ext>
            </a:extLst>
          </p:cNvPr>
          <p:cNvSpPr>
            <a:spLocks noGrp="1"/>
          </p:cNvSpPr>
          <p:nvPr/>
        </p:nvSpPr>
        <p:spPr>
          <a:xfrm>
            <a:off x="4629150" y="1866900"/>
            <a:ext cx="171450" cy="171450"/>
          </a:xfrm>
          <a:prstGeom prst="ellipse">
            <a:avLst/>
          </a:prstGeom>
          <a:solidFill>
            <a:srgbClr val="C7553D"/>
          </a:solidFill>
          <a:ln w="0">
            <a:noFill/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006F2DA-F827-4E0A-B2B5-205611DE14E9}"/>
              </a:ext>
            </a:extLst>
          </p:cNvPr>
          <p:cNvSpPr>
            <a:spLocks noGrp="1"/>
          </p:cNvSpPr>
          <p:nvPr/>
        </p:nvSpPr>
        <p:spPr>
          <a:xfrm>
            <a:off x="4914900" y="18097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Login error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098AC19-6496-468D-84AC-427466AC728C}"/>
              </a:ext>
            </a:extLst>
          </p:cNvPr>
          <p:cNvSpPr>
            <a:spLocks noGrp="1"/>
          </p:cNvSpPr>
          <p:nvPr/>
        </p:nvSpPr>
        <p:spPr>
          <a:xfrm>
            <a:off x="4629150" y="2190750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Negative login coverage using image assets instead of hardcoded coordinates.</a:t>
            </a:r>
          </a:p>
        </p:txBody>
      </p: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D7BFEFFB-3E74-4D00-9923-6D03047C9263}"/>
              </a:ext>
            </a:extLst>
          </p:cNvPr>
          <p:cNvSpPr>
            <a:spLocks noGrp="1"/>
          </p:cNvSpPr>
          <p:nvPr/>
        </p:nvSpPr>
        <p:spPr>
          <a:xfrm>
            <a:off x="666750" y="3390900"/>
            <a:ext cx="32766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54FD3DF2-9DE1-428C-BEED-86705FB33355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171450" cy="171450"/>
          </a:xfrm>
          <a:prstGeom prst="ellipse">
            <a:avLst/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B7CC799-2A00-44EB-9CDB-CDC6CB910551}"/>
              </a:ext>
            </a:extLst>
          </p:cNvPr>
          <p:cNvSpPr>
            <a:spLocks noGrp="1"/>
          </p:cNvSpPr>
          <p:nvPr/>
        </p:nvSpPr>
        <p:spPr>
          <a:xfrm>
            <a:off x="1181100" y="3562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dirty="0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Sales path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BB2F20C6-AC84-43D8-A90B-622CD09C127C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Fuel selection, amount input, payment wait, and benefits prompt evidence.</a:t>
            </a:r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B6E19495-1BD0-4D4C-AB48-F72A2927264B}"/>
              </a:ext>
            </a:extLst>
          </p:cNvPr>
          <p:cNvSpPr>
            <a:spLocks noGrp="1"/>
          </p:cNvSpPr>
          <p:nvPr/>
        </p:nvSpPr>
        <p:spPr>
          <a:xfrm>
            <a:off x="4400550" y="3390900"/>
            <a:ext cx="32766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F185AE7-EABB-47D0-95DC-36EB92F755E6}"/>
              </a:ext>
            </a:extLst>
          </p:cNvPr>
          <p:cNvSpPr>
            <a:spLocks noGrp="1"/>
          </p:cNvSpPr>
          <p:nvPr/>
        </p:nvSpPr>
        <p:spPr>
          <a:xfrm>
            <a:off x="4629150" y="3619500"/>
            <a:ext cx="171450" cy="171450"/>
          </a:xfrm>
          <a:prstGeom prst="ellipse">
            <a:avLst/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8F2085C-CF4C-417C-A50D-555480E7C984}"/>
              </a:ext>
            </a:extLst>
          </p:cNvPr>
          <p:cNvSpPr>
            <a:spLocks noGrp="1"/>
          </p:cNvSpPr>
          <p:nvPr/>
        </p:nvSpPr>
        <p:spPr>
          <a:xfrm>
            <a:off x="4914900" y="35623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Desktop simulator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5AA629F-7803-4BC7-B190-5E50C06EFE66}"/>
              </a:ext>
            </a:extLst>
          </p:cNvPr>
          <p:cNvSpPr>
            <a:spLocks noGrp="1"/>
          </p:cNvSpPr>
          <p:nvPr/>
        </p:nvSpPr>
        <p:spPr>
          <a:xfrm>
            <a:off x="4629150" y="3943350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Virtual pump simulator actions are represented with desktop evidence.</a:t>
            </a:r>
          </a:p>
        </p:txBody>
      </p:sp>
      <p:pic>
        <p:nvPicPr>
          <p:cNvPr id="45" name="Imagen 44"/>
          <p:cNvPicPr>
            <a:picLocks noChangeAspect="1"/>
          </p:cNvPicPr>
          <p:nvPr/>
        </p:nvPicPr>
        <p:blipFill>
          <a:blip r:embed="rId3"/>
          <a:srcRect l="85" r="85"/>
          <a:stretch>
            <a:fillRect/>
          </a:stretch>
        </p:blipFill>
        <p:spPr>
          <a:xfrm>
            <a:off x="8420100" y="1562100"/>
            <a:ext cx="1390650" cy="2476500"/>
          </a:xfrm>
          <a:prstGeom prst="roundRect">
            <a:avLst>
              <a:gd name="adj" fmla="val 9589"/>
            </a:avLst>
          </a:prstGeom>
        </p:spPr>
      </p:pic>
      <p:pic>
        <p:nvPicPr>
          <p:cNvPr id="46" name="Imagen 45"/>
          <p:cNvPicPr>
            <a:picLocks noChangeAspect="1"/>
          </p:cNvPicPr>
          <p:nvPr/>
        </p:nvPicPr>
        <p:blipFill>
          <a:blip r:embed="rId4"/>
          <a:srcRect l="85" r="85"/>
          <a:stretch>
            <a:fillRect/>
          </a:stretch>
        </p:blipFill>
        <p:spPr>
          <a:xfrm>
            <a:off x="10020300" y="1562100"/>
            <a:ext cx="1390650" cy="2476500"/>
          </a:xfrm>
          <a:prstGeom prst="roundRect">
            <a:avLst>
              <a:gd name="adj" fmla="val 9589"/>
            </a:avLst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2CF07E92-1590-4258-93D7-9A79872E091B}"/>
              </a:ext>
            </a:extLst>
          </p:cNvPr>
          <p:cNvSpPr>
            <a:spLocks noGrp="1"/>
          </p:cNvSpPr>
          <p:nvPr/>
        </p:nvSpPr>
        <p:spPr>
          <a:xfrm>
            <a:off x="8420100" y="43815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Reusable foundation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7A60638-AF3D-4D4D-AD01-139D7A51F132}"/>
              </a:ext>
            </a:extLst>
          </p:cNvPr>
          <p:cNvSpPr>
            <a:spLocks noGrp="1"/>
          </p:cNvSpPr>
          <p:nvPr/>
        </p:nvSpPr>
        <p:spPr>
          <a:xfrm>
            <a:off x="8420100" y="4743450"/>
            <a:ext cx="3048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Features, assets, screenshots, and report generation are now aligned enough to support the next wave of scenarios.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2391D2F5-A53D-66B8-6488-013DB53D30EA}"/>
              </a:ext>
            </a:extLst>
          </p:cNvPr>
          <p:cNvSpPr>
            <a:spLocks noGrp="1"/>
          </p:cNvSpPr>
          <p:nvPr/>
        </p:nvSpPr>
        <p:spPr>
          <a:xfrm>
            <a:off x="2724150" y="4898571"/>
            <a:ext cx="3276600" cy="1276350"/>
          </a:xfrm>
          <a:prstGeom prst="roundRect">
            <a:avLst>
              <a:gd name="adj" fmla="val 1343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s-MX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C87D472-3E00-8AD5-1CE7-E5A19AC84122}"/>
              </a:ext>
            </a:extLst>
          </p:cNvPr>
          <p:cNvSpPr>
            <a:spLocks noGrp="1"/>
          </p:cNvSpPr>
          <p:nvPr/>
        </p:nvSpPr>
        <p:spPr>
          <a:xfrm>
            <a:off x="3171825" y="51054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ES" sz="1650" b="1" dirty="0" err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Crash</a:t>
            </a:r>
            <a:endParaRPr sz="1650" b="1" dirty="0">
              <a:solidFill>
                <a:srgbClr val="17201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D2209C1-5A10-9AC1-F20D-F585643D855E}"/>
              </a:ext>
            </a:extLst>
          </p:cNvPr>
          <p:cNvSpPr>
            <a:spLocks noGrp="1"/>
          </p:cNvSpPr>
          <p:nvPr/>
        </p:nvSpPr>
        <p:spPr>
          <a:xfrm>
            <a:off x="2920420" y="5517696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endParaRPr sz="1200" b="0" dirty="0">
              <a:solidFill>
                <a:srgbClr val="5E66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B0DC4AA-EA23-75BB-2852-9A2554F1473A}"/>
              </a:ext>
            </a:extLst>
          </p:cNvPr>
          <p:cNvSpPr>
            <a:spLocks noGrp="1"/>
          </p:cNvSpPr>
          <p:nvPr/>
        </p:nvSpPr>
        <p:spPr>
          <a:xfrm>
            <a:off x="2850696" y="5504088"/>
            <a:ext cx="2743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lang="es-ES"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Close </a:t>
            </a:r>
            <a:r>
              <a:rPr lang="es-ES" sz="1200" b="0" dirty="0" err="1">
                <a:solidFill>
                  <a:srgbClr val="5E665F"/>
                </a:solidFill>
                <a:latin typeface="Aptos"/>
                <a:ea typeface="Aptos"/>
                <a:cs typeface="Aptos"/>
              </a:rPr>
              <a:t>the</a:t>
            </a:r>
            <a:r>
              <a:rPr lang="es-ES" sz="1200" b="0" dirty="0">
                <a:solidFill>
                  <a:srgbClr val="5E665F"/>
                </a:solidFill>
                <a:latin typeface="Aptos"/>
                <a:ea typeface="Aptos"/>
                <a:cs typeface="Aptos"/>
              </a:rPr>
              <a:t> kiosco </a:t>
            </a:r>
            <a:r>
              <a:rPr lang="es-MX" dirty="0"/>
              <a:t>while fueling is in progress</a:t>
            </a:r>
            <a:endParaRPr sz="1200" b="0" dirty="0">
              <a:solidFill>
                <a:srgbClr val="5E665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9B2DA394-6DDC-2CDE-27E5-4294BFD67E21}"/>
              </a:ext>
            </a:extLst>
          </p:cNvPr>
          <p:cNvSpPr>
            <a:spLocks noGrp="1"/>
          </p:cNvSpPr>
          <p:nvPr/>
        </p:nvSpPr>
        <p:spPr>
          <a:xfrm>
            <a:off x="2920094" y="5219702"/>
            <a:ext cx="171450" cy="171450"/>
          </a:xfrm>
          <a:prstGeom prst="ellipse">
            <a:avLst/>
          </a:prstGeom>
          <a:solidFill>
            <a:srgbClr val="C7553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5017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7CCD3871-CFBB-498F-94F2-70853165FCF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Execution Model &amp; Evidence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E7FDCE4-6273-4D60-B76F-CBEF67656569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Automation advances the UI path; human and hardware checkpoints are isolated instead of hidden.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1110814-3A53-4B61-9D24-7972832B74B4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95EA465-A55E-4533-9AA4-43FC33C33635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6" name="Imagen 25"/>
          <p:cNvPicPr>
            <a:picLocks noChangeAspect="1"/>
          </p:cNvPicPr>
          <p:nvPr/>
        </p:nvPicPr>
        <p:blipFill>
          <a:blip r:embed="rId3"/>
          <a:srcRect t="158" b="158"/>
          <a:stretch>
            <a:fillRect/>
          </a:stretch>
        </p:blipFill>
        <p:spPr>
          <a:xfrm>
            <a:off x="742950" y="1571625"/>
            <a:ext cx="1504950" cy="2667000"/>
          </a:xfrm>
          <a:prstGeom prst="roundRect">
            <a:avLst>
              <a:gd name="adj" fmla="val 8861"/>
            </a:avLst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>
          <a:blip r:embed="rId4"/>
          <a:srcRect t="158" b="158"/>
          <a:stretch>
            <a:fillRect/>
          </a:stretch>
        </p:blipFill>
        <p:spPr>
          <a:xfrm>
            <a:off x="2419350" y="1571625"/>
            <a:ext cx="1504950" cy="2667000"/>
          </a:xfrm>
          <a:prstGeom prst="roundRect">
            <a:avLst>
              <a:gd name="adj" fmla="val 8861"/>
            </a:avLst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>
          <a:blip r:embed="rId5"/>
          <a:srcRect t="42" b="42"/>
          <a:stretch>
            <a:fillRect/>
          </a:stretch>
        </p:blipFill>
        <p:spPr>
          <a:xfrm>
            <a:off x="4095750" y="1571625"/>
            <a:ext cx="3048000" cy="2076450"/>
          </a:xfrm>
          <a:prstGeom prst="roundRect">
            <a:avLst>
              <a:gd name="adj" fmla="val 6422"/>
            </a:avLst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6"/>
          <a:srcRect t="42" b="42"/>
          <a:stretch>
            <a:fillRect/>
          </a:stretch>
        </p:blipFill>
        <p:spPr>
          <a:xfrm>
            <a:off x="7353300" y="1571625"/>
            <a:ext cx="3048000" cy="2076450"/>
          </a:xfrm>
          <a:prstGeom prst="roundRect">
            <a:avLst>
              <a:gd name="adj" fmla="val 6422"/>
            </a:avLst>
          </a:prstGeom>
        </p:spPr>
      </p:pic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A744F662-B6CE-4284-889A-EFA3688E0072}"/>
              </a:ext>
            </a:extLst>
          </p:cNvPr>
          <p:cNvSpPr>
            <a:spLocks noGrp="1"/>
          </p:cNvSpPr>
          <p:nvPr/>
        </p:nvSpPr>
        <p:spPr>
          <a:xfrm>
            <a:off x="1143000" y="4552950"/>
            <a:ext cx="16002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0B6B4B"/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23A5A2-2AA0-4F0D-8DAF-F34CBA397661}"/>
              </a:ext>
            </a:extLst>
          </p:cNvPr>
          <p:cNvSpPr>
            <a:spLocks noGrp="1"/>
          </p:cNvSpPr>
          <p:nvPr/>
        </p:nvSpPr>
        <p:spPr>
          <a:xfrm>
            <a:off x="1238250" y="464820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Image assets</a:t>
            </a:r>
          </a:p>
        </p:txBody>
      </p:sp>
      <p:sp>
        <p:nvSpPr>
          <p:cNvPr id="11" name="Cheurón 10">
            <a:extLst>
              <a:ext uri="{FF2B5EF4-FFF2-40B4-BE49-F238E27FC236}">
                <a16:creationId xmlns:a16="http://schemas.microsoft.com/office/drawing/2014/main" id="{5F4FBB72-9CDA-42C9-A61D-3AA244CF3DFD}"/>
              </a:ext>
            </a:extLst>
          </p:cNvPr>
          <p:cNvSpPr>
            <a:spLocks noGrp="1"/>
          </p:cNvSpPr>
          <p:nvPr/>
        </p:nvSpPr>
        <p:spPr>
          <a:xfrm>
            <a:off x="2838450" y="4648200"/>
            <a:ext cx="323850" cy="209550"/>
          </a:xfrm>
          <a:prstGeom prst="chevron">
            <a:avLst/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585048D2-E2A4-4E4F-9E70-E3DEF09A26D0}"/>
              </a:ext>
            </a:extLst>
          </p:cNvPr>
          <p:cNvSpPr>
            <a:spLocks noGrp="1"/>
          </p:cNvSpPr>
          <p:nvPr/>
        </p:nvSpPr>
        <p:spPr>
          <a:xfrm>
            <a:off x="3352800" y="4552950"/>
            <a:ext cx="16002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2F5C8F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0343F0F-1122-4A21-A64D-2D14584B78AD}"/>
              </a:ext>
            </a:extLst>
          </p:cNvPr>
          <p:cNvSpPr>
            <a:spLocks noGrp="1"/>
          </p:cNvSpPr>
          <p:nvPr/>
        </p:nvSpPr>
        <p:spPr>
          <a:xfrm>
            <a:off x="3448050" y="464820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Scripted flow</a:t>
            </a:r>
          </a:p>
        </p:txBody>
      </p:sp>
      <p:sp>
        <p:nvSpPr>
          <p:cNvPr id="14" name="Cheurón 13">
            <a:extLst>
              <a:ext uri="{FF2B5EF4-FFF2-40B4-BE49-F238E27FC236}">
                <a16:creationId xmlns:a16="http://schemas.microsoft.com/office/drawing/2014/main" id="{582C1DFB-5060-4653-B61F-A61E0288F9E7}"/>
              </a:ext>
            </a:extLst>
          </p:cNvPr>
          <p:cNvSpPr>
            <a:spLocks noGrp="1"/>
          </p:cNvSpPr>
          <p:nvPr/>
        </p:nvSpPr>
        <p:spPr>
          <a:xfrm>
            <a:off x="5048250" y="4648200"/>
            <a:ext cx="323850" cy="209550"/>
          </a:xfrm>
          <a:prstGeom prst="chevron">
            <a:avLst/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8E34CB03-3267-42CE-933C-F191F9DC634F}"/>
              </a:ext>
            </a:extLst>
          </p:cNvPr>
          <p:cNvSpPr>
            <a:spLocks noGrp="1"/>
          </p:cNvSpPr>
          <p:nvPr/>
        </p:nvSpPr>
        <p:spPr>
          <a:xfrm>
            <a:off x="5562600" y="4552950"/>
            <a:ext cx="16002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D99A2B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44CC31B-C318-4225-9C32-3223487A39C5}"/>
              </a:ext>
            </a:extLst>
          </p:cNvPr>
          <p:cNvSpPr>
            <a:spLocks noGrp="1"/>
          </p:cNvSpPr>
          <p:nvPr/>
        </p:nvSpPr>
        <p:spPr>
          <a:xfrm>
            <a:off x="5657850" y="464820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Screenshots</a:t>
            </a:r>
          </a:p>
        </p:txBody>
      </p:sp>
      <p:sp>
        <p:nvSpPr>
          <p:cNvPr id="17" name="Cheurón 16">
            <a:extLst>
              <a:ext uri="{FF2B5EF4-FFF2-40B4-BE49-F238E27FC236}">
                <a16:creationId xmlns:a16="http://schemas.microsoft.com/office/drawing/2014/main" id="{0891302A-7273-465C-A590-E331A47CD5C5}"/>
              </a:ext>
            </a:extLst>
          </p:cNvPr>
          <p:cNvSpPr>
            <a:spLocks noGrp="1"/>
          </p:cNvSpPr>
          <p:nvPr/>
        </p:nvSpPr>
        <p:spPr>
          <a:xfrm>
            <a:off x="7258050" y="4648200"/>
            <a:ext cx="323850" cy="209550"/>
          </a:xfrm>
          <a:prstGeom prst="chevron">
            <a:avLst/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000229D5-B197-4784-A930-AE637339337C}"/>
              </a:ext>
            </a:extLst>
          </p:cNvPr>
          <p:cNvSpPr>
            <a:spLocks noGrp="1"/>
          </p:cNvSpPr>
          <p:nvPr/>
        </p:nvSpPr>
        <p:spPr>
          <a:xfrm>
            <a:off x="7772400" y="4552950"/>
            <a:ext cx="1600200" cy="400050"/>
          </a:xfrm>
          <a:prstGeom prst="roundRect">
            <a:avLst>
              <a:gd name="adj" fmla="val 28571"/>
            </a:avLst>
          </a:prstGeom>
          <a:solidFill>
            <a:srgbClr val="EBC7BE"/>
          </a:solidFill>
          <a:ln w="19050">
            <a:solidFill>
              <a:srgbClr val="C7553D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A80ECC3-8FAC-45E2-9425-1465D40C4A4C}"/>
              </a:ext>
            </a:extLst>
          </p:cNvPr>
          <p:cNvSpPr>
            <a:spLocks noGrp="1"/>
          </p:cNvSpPr>
          <p:nvPr/>
        </p:nvSpPr>
        <p:spPr>
          <a:xfrm>
            <a:off x="7867650" y="4648200"/>
            <a:ext cx="1409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78271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82719"/>
                </a:solidFill>
                <a:latin typeface="Aptos"/>
                <a:ea typeface="Aptos"/>
                <a:cs typeface="Aptos"/>
              </a:rPr>
              <a:t>Manual checkpoint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05EB210-32FD-4667-9377-DB4051445CBF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Evidence package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4D558BB-D540-47C9-B996-F0F45E681864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828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Each automated step can produce screenshots and logs; hardware-dependent steps can be closed with operator video or external proof.</a:t>
            </a:r>
          </a:p>
        </p:txBody>
      </p:sp>
    </p:spTree>
    <p:extLst>
      <p:ext uri="{BB962C8B-B14F-4D97-AF65-F5344CB8AC3E}">
        <p14:creationId xmlns:p14="http://schemas.microsoft.com/office/powerpoint/2010/main" val="207296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761816D5-70D7-412A-B57C-039DA2B2BC5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Plan to Close the Gap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96DE70B-AE6C-4C66-84D9-73B5E44241B5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Priorities that turn the current base into a repeatable delivery workflow.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799F082-1C7E-4824-BCBC-943E70D01AAE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725885-84B0-4668-B019-ABE73BD401A1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8FE7A6F-B303-42DF-80E9-EA7D25562E9C}"/>
              </a:ext>
            </a:extLst>
          </p:cNvPr>
          <p:cNvSpPr>
            <a:spLocks noGrp="1"/>
          </p:cNvSpPr>
          <p:nvPr/>
        </p:nvSpPr>
        <p:spPr>
          <a:xfrm>
            <a:off x="781050" y="1619250"/>
            <a:ext cx="514350" cy="514350"/>
          </a:xfrm>
          <a:prstGeom prst="ellipse">
            <a:avLst/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AD8604A-FAEC-4654-90CA-C3D73BF699E6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60A828B-50C4-4387-A4F8-6FF568984673}"/>
              </a:ext>
            </a:extLst>
          </p:cNvPr>
          <p:cNvSpPr>
            <a:spLocks noGrp="1"/>
          </p:cNvSpPr>
          <p:nvPr/>
        </p:nvSpPr>
        <p:spPr>
          <a:xfrm>
            <a:off x="1524000" y="15811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Stabilize execution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6BFC1AA-8B0C-43D2-974C-6EE633D6D289}"/>
              </a:ext>
            </a:extLst>
          </p:cNvPr>
          <p:cNvSpPr>
            <a:spLocks noGrp="1"/>
          </p:cNvSpPr>
          <p:nvPr/>
        </p:nvSpPr>
        <p:spPr>
          <a:xfrm>
            <a:off x="1524000" y="190500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Install/verify Behave dependencies and run dry-run plus targeted flows in the real environment.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E2D5958C-A7DC-4896-8D8F-1EF9F061B003}"/>
              </a:ext>
            </a:extLst>
          </p:cNvPr>
          <p:cNvSpPr>
            <a:spLocks noGrp="1"/>
          </p:cNvSpPr>
          <p:nvPr/>
        </p:nvSpPr>
        <p:spPr>
          <a:xfrm>
            <a:off x="781050" y="2686050"/>
            <a:ext cx="514350" cy="514350"/>
          </a:xfrm>
          <a:prstGeom prst="ellipse">
            <a:avLst/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EB2F0D3-2D81-4465-A083-660A0CB8DAE9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3B51F70-A2D8-43C4-9CBA-AD34233F3BD1}"/>
              </a:ext>
            </a:extLst>
          </p:cNvPr>
          <p:cNvSpPr>
            <a:spLocks noGrp="1"/>
          </p:cNvSpPr>
          <p:nvPr/>
        </p:nvSpPr>
        <p:spPr>
          <a:xfrm>
            <a:off x="1524000" y="26479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Standardize assets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2EE6B0-593A-4173-BC3B-61BA3CC344B8}"/>
              </a:ext>
            </a:extLst>
          </p:cNvPr>
          <p:cNvSpPr>
            <a:spLocks noGrp="1"/>
          </p:cNvSpPr>
          <p:nvPr/>
        </p:nvSpPr>
        <p:spPr>
          <a:xfrm>
            <a:off x="1524000" y="297180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Move more clicks to image anchors, tighten waits, and keep coordinate fallback explicit.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6CA47402-1412-4C37-B6F4-3B03D592CE46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514350" cy="514350"/>
          </a:xfrm>
          <a:prstGeom prst="ellipse">
            <a:avLst/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2B5BCD-4E04-484C-8B4E-9E4CEC44F76E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F7BD678-A8AD-43BA-8C8A-C9DD485FCFDF}"/>
              </a:ext>
            </a:extLst>
          </p:cNvPr>
          <p:cNvSpPr>
            <a:spLocks noGrp="1"/>
          </p:cNvSpPr>
          <p:nvPr/>
        </p:nvSpPr>
        <p:spPr>
          <a:xfrm>
            <a:off x="1524000" y="37147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Automate pending cases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B6E1C36-FBBA-4929-A59D-52227B05884E}"/>
              </a:ext>
            </a:extLst>
          </p:cNvPr>
          <p:cNvSpPr>
            <a:spLocks noGrp="1"/>
          </p:cNvSpPr>
          <p:nvPr/>
        </p:nvSpPr>
        <p:spPr>
          <a:xfrm>
            <a:off x="1524000" y="403860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Convert the highest-value pending matrix cases into feature tags and evidence-backed flows.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AB894EF-FF0C-42BE-91FE-C0ED33ACCB3D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514350" cy="514350"/>
          </a:xfrm>
          <a:prstGeom prst="ellipse">
            <a:avLst/>
          </a:prstGeom>
          <a:solidFill>
            <a:srgbClr val="C7553D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A2223AA-FFA2-4563-9FAB-67D99A14742F}"/>
              </a:ext>
            </a:extLst>
          </p:cNvPr>
          <p:cNvSpPr>
            <a:spLocks noGrp="1"/>
          </p:cNvSpPr>
          <p:nvPr/>
        </p:nvSpPr>
        <p:spPr>
          <a:xfrm>
            <a:off x="781050" y="4914900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98E8A13-252B-4EA5-B9AF-CAAC5E5B8FD6}"/>
              </a:ext>
            </a:extLst>
          </p:cNvPr>
          <p:cNvSpPr>
            <a:spLocks noGrp="1"/>
          </p:cNvSpPr>
          <p:nvPr/>
        </p:nvSpPr>
        <p:spPr>
          <a:xfrm>
            <a:off x="1524000" y="47815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Control dependencies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7FE3378-B34E-4E69-B798-3B3532017B02}"/>
              </a:ext>
            </a:extLst>
          </p:cNvPr>
          <p:cNvSpPr>
            <a:spLocks noGrp="1"/>
          </p:cNvSpPr>
          <p:nvPr/>
        </p:nvSpPr>
        <p:spPr>
          <a:xfrm>
            <a:off x="1524000" y="5105400"/>
            <a:ext cx="7905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Define manual checkpoints, required test data, and external validation evidence for cases the bot cannot close alone.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98F4DAFB-A602-4829-8EED-55AEAACBC7A6}"/>
              </a:ext>
            </a:extLst>
          </p:cNvPr>
          <p:cNvSpPr>
            <a:spLocks noGrp="1"/>
          </p:cNvSpPr>
          <p:nvPr/>
        </p:nvSpPr>
        <p:spPr>
          <a:xfrm>
            <a:off x="8858250" y="1600200"/>
            <a:ext cx="2095500" cy="314325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4A64CC0-AA6B-49F7-A64F-48EAA6BC7EB9}"/>
              </a:ext>
            </a:extLst>
          </p:cNvPr>
          <p:cNvSpPr>
            <a:spLocks noGrp="1"/>
          </p:cNvSpPr>
          <p:nvPr/>
        </p:nvSpPr>
        <p:spPr>
          <a:xfrm>
            <a:off x="9163050" y="19240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Operating rule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6AEEA5F-0C7C-4D01-A1B3-B36EF87AF933}"/>
              </a:ext>
            </a:extLst>
          </p:cNvPr>
          <p:cNvSpPr>
            <a:spLocks noGrp="1"/>
          </p:cNvSpPr>
          <p:nvPr/>
        </p:nvSpPr>
        <p:spPr>
          <a:xfrm>
            <a:off x="9163050" y="2381250"/>
            <a:ext cx="14668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If a case needs a person, device, ticket, email, or third-party response, the automation still documents the boundary and collects the right evidence.</a:t>
            </a:r>
          </a:p>
        </p:txBody>
      </p:sp>
    </p:spTree>
    <p:extLst>
      <p:ext uri="{BB962C8B-B14F-4D97-AF65-F5344CB8AC3E}">
        <p14:creationId xmlns:p14="http://schemas.microsoft.com/office/powerpoint/2010/main" val="1275979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ángulo 42">
            <a:extLst>
              <a:ext uri="{FF2B5EF4-FFF2-40B4-BE49-F238E27FC236}">
                <a16:creationId xmlns:a16="http://schemas.microsoft.com/office/drawing/2014/main" id="{61A1C1CF-C676-471E-B027-AF989A63585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704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Completion Timeline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95F021-48C7-43AB-B426-64577485BA5E}"/>
              </a:ext>
            </a:extLst>
          </p:cNvPr>
          <p:cNvSpPr>
            <a:spLocks noGrp="1"/>
          </p:cNvSpPr>
          <p:nvPr/>
        </p:nvSpPr>
        <p:spPr>
          <a:xfrm>
            <a:off x="628650" y="9525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Finish the pending automatable cases first, then organize the full suite into Behave features.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905E499-313E-4703-B642-DEAAB1EBC37C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PetroSeven Kiosk Automation Plan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F6E663B-DCF3-4F6E-92F8-59BA4C702F43}"/>
              </a:ext>
            </a:extLst>
          </p:cNvPr>
          <p:cNvSpPr>
            <a:spLocks noGrp="1"/>
          </p:cNvSpPr>
          <p:nvPr/>
        </p:nvSpPr>
        <p:spPr>
          <a:xfrm>
            <a:off x="10972800" y="630555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0B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6B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E2299216-0A94-4B70-8ABA-6695B14323AA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4648200" cy="3790950"/>
          </a:xfrm>
          <a:prstGeom prst="roundRect">
            <a:avLst>
              <a:gd name="adj" fmla="val 4523"/>
            </a:avLst>
          </a:prstGeom>
          <a:solidFill>
            <a:srgbClr val="FFFFFF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EE48FC6-8AB8-4F7D-BF94-B2CD0A3BC5DC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Pending cases to finish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715D17-30EC-459A-9F7B-59C06E213BA2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3714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19 automatable cases remain, plus 10 station-assisted validations that can run in parallel.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C59F896-B9C7-457B-AADC-F7A52AB84DA2}"/>
              </a:ext>
            </a:extLst>
          </p:cNvPr>
          <p:cNvSpPr>
            <a:spLocks noGrp="1"/>
          </p:cNvSpPr>
          <p:nvPr/>
        </p:nvSpPr>
        <p:spPr>
          <a:xfrm>
            <a:off x="952500" y="2914650"/>
            <a:ext cx="171450" cy="171450"/>
          </a:xfrm>
          <a:prstGeom prst="ellipse">
            <a:avLst/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7D9F58F-9D68-44CD-8A0B-3FE16537A2C9}"/>
              </a:ext>
            </a:extLst>
          </p:cNvPr>
          <p:cNvSpPr>
            <a:spLocks noGrp="1"/>
          </p:cNvSpPr>
          <p:nvPr/>
        </p:nvSpPr>
        <p:spPr>
          <a:xfrm>
            <a:off x="1257300" y="28575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Login variants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553F45E-D08F-4590-A3F2-0FA7F7C4689E}"/>
              </a:ext>
            </a:extLst>
          </p:cNvPr>
          <p:cNvSpPr>
            <a:spLocks noGrp="1"/>
          </p:cNvSpPr>
          <p:nvPr/>
        </p:nvSpPr>
        <p:spPr>
          <a:xfrm>
            <a:off x="2990850" y="28575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Standard/error cases and controlled credential states.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8A80EB5E-211A-4478-AA4E-AAD94B9B6F17}"/>
              </a:ext>
            </a:extLst>
          </p:cNvPr>
          <p:cNvSpPr>
            <a:spLocks noGrp="1"/>
          </p:cNvSpPr>
          <p:nvPr/>
        </p:nvSpPr>
        <p:spPr>
          <a:xfrm>
            <a:off x="952500" y="3409950"/>
            <a:ext cx="171450" cy="171450"/>
          </a:xfrm>
          <a:prstGeom prst="ellipse">
            <a:avLst/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1CD3E9F-7783-4AA2-8B5A-1E82CE2CF911}"/>
              </a:ext>
            </a:extLst>
          </p:cNvPr>
          <p:cNvSpPr>
            <a:spLocks noGrp="1"/>
          </p:cNvSpPr>
          <p:nvPr/>
        </p:nvSpPr>
        <p:spPr>
          <a:xfrm>
            <a:off x="1257300" y="33528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Sales &amp; benefits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260C85F-8F0E-4A78-A280-0307711F3CC4}"/>
              </a:ext>
            </a:extLst>
          </p:cNvPr>
          <p:cNvSpPr>
            <a:spLocks noGrp="1"/>
          </p:cNvSpPr>
          <p:nvPr/>
        </p:nvSpPr>
        <p:spPr>
          <a:xfrm>
            <a:off x="2990850" y="33528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Fuel, amount, 7LY prompt, payment wait, and visual checks.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4BA7156-494A-4F30-BCD5-0985F31B593D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171450" cy="171450"/>
          </a:xfrm>
          <a:prstGeom prst="ellipse">
            <a:avLst/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F25B550-19AC-4525-A3BD-38BF9BB69D81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Invoice / external proof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6ECF66A-315E-4260-B95E-58FB0AEB3FE6}"/>
              </a:ext>
            </a:extLst>
          </p:cNvPr>
          <p:cNvSpPr>
            <a:spLocks noGrp="1"/>
          </p:cNvSpPr>
          <p:nvPr/>
        </p:nvSpPr>
        <p:spPr>
          <a:xfrm>
            <a:off x="2990850" y="38481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Invoice flow plus tickets, email, QR, and system-response evidence.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7D192838-D245-48DC-A620-E1F6A36426FB}"/>
              </a:ext>
            </a:extLst>
          </p:cNvPr>
          <p:cNvSpPr>
            <a:spLocks noGrp="1"/>
          </p:cNvSpPr>
          <p:nvPr/>
        </p:nvSpPr>
        <p:spPr>
          <a:xfrm>
            <a:off x="952500" y="4400550"/>
            <a:ext cx="171450" cy="171450"/>
          </a:xfrm>
          <a:prstGeom prst="ellipse">
            <a:avLst/>
          </a:prstGeom>
          <a:solidFill>
            <a:srgbClr val="C7553D"/>
          </a:solidFill>
          <a:ln w="0">
            <a:noFill/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54E530B-6A6E-48A9-B719-4CCF334DD79A}"/>
              </a:ext>
            </a:extLst>
          </p:cNvPr>
          <p:cNvSpPr>
            <a:spLocks noGrp="1"/>
          </p:cNvSpPr>
          <p:nvPr/>
        </p:nvSpPr>
        <p:spPr>
          <a:xfrm>
            <a:off x="1257300" y="43434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Dependency controls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5DDBCAA-DE82-45E9-B4F0-F6F4E5176FC4}"/>
              </a:ext>
            </a:extLst>
          </p:cNvPr>
          <p:cNvSpPr>
            <a:spLocks noGrp="1"/>
          </p:cNvSpPr>
          <p:nvPr/>
        </p:nvSpPr>
        <p:spPr>
          <a:xfrm>
            <a:off x="2990850" y="4343400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Manual checkpoints for pump, RFID, PinPad, test data, and third parties.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7B0B0F5-DF2E-4843-9325-36AF9E801360}"/>
              </a:ext>
            </a:extLst>
          </p:cNvPr>
          <p:cNvSpPr>
            <a:spLocks noGrp="1"/>
          </p:cNvSpPr>
          <p:nvPr/>
        </p:nvSpPr>
        <p:spPr>
          <a:xfrm>
            <a:off x="5924550" y="15240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1B"/>
                </a:solidFill>
                <a:latin typeface="Aptos Display"/>
                <a:ea typeface="Aptos Display"/>
                <a:cs typeface="Aptos Display"/>
              </a:rPr>
              <a:t>Sprint path</a:t>
            </a:r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71E10A66-BA65-4E61-9E45-1892138D36B3}"/>
              </a:ext>
            </a:extLst>
          </p:cNvPr>
          <p:cNvSpPr>
            <a:spLocks noGrp="1"/>
          </p:cNvSpPr>
          <p:nvPr/>
        </p:nvSpPr>
        <p:spPr>
          <a:xfrm>
            <a:off x="5924550" y="1981200"/>
            <a:ext cx="1123950" cy="419100"/>
          </a:xfrm>
          <a:prstGeom prst="roundRect">
            <a:avLst>
              <a:gd name="adj" fmla="val 27273"/>
            </a:avLst>
          </a:prstGeom>
          <a:solidFill>
            <a:srgbClr val="0B6B4B"/>
          </a:solidFill>
          <a:ln w="0">
            <a:noFill/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B8D3CB4-9257-474F-BD00-10AF54A4324C}"/>
              </a:ext>
            </a:extLst>
          </p:cNvPr>
          <p:cNvSpPr>
            <a:spLocks noGrp="1"/>
          </p:cNvSpPr>
          <p:nvPr/>
        </p:nvSpPr>
        <p:spPr>
          <a:xfrm>
            <a:off x="6019800" y="209550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 17-19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DB80D8CE-B0D5-4BA1-88E8-00B876639066}"/>
              </a:ext>
            </a:extLst>
          </p:cNvPr>
          <p:cNvSpPr>
            <a:spLocks noGrp="1"/>
          </p:cNvSpPr>
          <p:nvPr/>
        </p:nvSpPr>
        <p:spPr>
          <a:xfrm>
            <a:off x="7258050" y="1962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Stabilize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8E40332-3CF1-4C99-8DEB-9A220A38EFFB}"/>
              </a:ext>
            </a:extLst>
          </p:cNvPr>
          <p:cNvSpPr>
            <a:spLocks noGrp="1"/>
          </p:cNvSpPr>
          <p:nvPr/>
        </p:nvSpPr>
        <p:spPr>
          <a:xfrm>
            <a:off x="7258050" y="22098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Environment setup.</a:t>
            </a: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8E986023-F21F-4529-B348-819571E31D66}"/>
              </a:ext>
            </a:extLst>
          </p:cNvPr>
          <p:cNvSpPr>
            <a:spLocks noGrp="1"/>
          </p:cNvSpPr>
          <p:nvPr/>
        </p:nvSpPr>
        <p:spPr>
          <a:xfrm>
            <a:off x="5924550" y="2781300"/>
            <a:ext cx="1123950" cy="419100"/>
          </a:xfrm>
          <a:prstGeom prst="roundRect">
            <a:avLst>
              <a:gd name="adj" fmla="val 27273"/>
            </a:avLst>
          </a:prstGeom>
          <a:solidFill>
            <a:srgbClr val="2F5C8F"/>
          </a:solidFill>
          <a:ln w="0">
            <a:noFill/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239C7D3-F907-485D-A203-F6FDCC1BFB87}"/>
              </a:ext>
            </a:extLst>
          </p:cNvPr>
          <p:cNvSpPr>
            <a:spLocks noGrp="1"/>
          </p:cNvSpPr>
          <p:nvPr/>
        </p:nvSpPr>
        <p:spPr>
          <a:xfrm>
            <a:off x="6019800" y="289560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E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</a:t>
            </a:r>
            <a:endParaRPr sz="9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6454FF8-FB82-469D-86C5-7D3F483971FC}"/>
              </a:ext>
            </a:extLst>
          </p:cNvPr>
          <p:cNvSpPr>
            <a:spLocks noGrp="1"/>
          </p:cNvSpPr>
          <p:nvPr/>
        </p:nvSpPr>
        <p:spPr>
          <a:xfrm>
            <a:off x="7258050" y="27622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Batch 1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AA827A88-7606-4A0B-8882-B2F95350FA13}"/>
              </a:ext>
            </a:extLst>
          </p:cNvPr>
          <p:cNvSpPr>
            <a:spLocks noGrp="1"/>
          </p:cNvSpPr>
          <p:nvPr/>
        </p:nvSpPr>
        <p:spPr>
          <a:xfrm>
            <a:off x="7258050" y="30099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Login + sales cases.</a:t>
            </a:r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AF053AD7-9682-4BE4-BC43-65FF35C4BEF5}"/>
              </a:ext>
            </a:extLst>
          </p:cNvPr>
          <p:cNvSpPr>
            <a:spLocks noGrp="1"/>
          </p:cNvSpPr>
          <p:nvPr/>
        </p:nvSpPr>
        <p:spPr>
          <a:xfrm>
            <a:off x="5924550" y="3581400"/>
            <a:ext cx="1123950" cy="419100"/>
          </a:xfrm>
          <a:prstGeom prst="roundRect">
            <a:avLst>
              <a:gd name="adj" fmla="val 27273"/>
            </a:avLst>
          </a:prstGeom>
          <a:solidFill>
            <a:srgbClr val="D99A2B"/>
          </a:solidFill>
          <a:ln w="0">
            <a:noFill/>
            <a:prstDash val="solid"/>
          </a:ln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A270D82-CDDB-42E0-8C27-D43BCB6E07CE}"/>
              </a:ext>
            </a:extLst>
          </p:cNvPr>
          <p:cNvSpPr>
            <a:spLocks noGrp="1"/>
          </p:cNvSpPr>
          <p:nvPr/>
        </p:nvSpPr>
        <p:spPr>
          <a:xfrm>
            <a:off x="6019800" y="369570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E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</a:t>
            </a:r>
            <a:endParaRPr sz="9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65C9DED-86F5-4CC4-8F6D-60A8B36D1849}"/>
              </a:ext>
            </a:extLst>
          </p:cNvPr>
          <p:cNvSpPr>
            <a:spLocks noGrp="1"/>
          </p:cNvSpPr>
          <p:nvPr/>
        </p:nvSpPr>
        <p:spPr>
          <a:xfrm>
            <a:off x="7258050" y="35623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Batch 2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BAC97AE-A416-4236-8A3B-90ECF1AFD70F}"/>
              </a:ext>
            </a:extLst>
          </p:cNvPr>
          <p:cNvSpPr>
            <a:spLocks noGrp="1"/>
          </p:cNvSpPr>
          <p:nvPr/>
        </p:nvSpPr>
        <p:spPr>
          <a:xfrm>
            <a:off x="7258050" y="38100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Invoice + 7LY cases.</a:t>
            </a: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65C28F5F-28EA-4352-A631-8F17506C3FE2}"/>
              </a:ext>
            </a:extLst>
          </p:cNvPr>
          <p:cNvSpPr>
            <a:spLocks noGrp="1"/>
          </p:cNvSpPr>
          <p:nvPr/>
        </p:nvSpPr>
        <p:spPr>
          <a:xfrm>
            <a:off x="5924550" y="4381500"/>
            <a:ext cx="1123950" cy="419100"/>
          </a:xfrm>
          <a:prstGeom prst="roundRect">
            <a:avLst>
              <a:gd name="adj" fmla="val 27273"/>
            </a:avLst>
          </a:prstGeom>
          <a:solidFill>
            <a:srgbClr val="C7553D"/>
          </a:solidFill>
          <a:ln w="0">
            <a:noFill/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1CA02F-5117-4ED3-A6E0-3940F26D4688}"/>
              </a:ext>
            </a:extLst>
          </p:cNvPr>
          <p:cNvSpPr>
            <a:spLocks noGrp="1"/>
          </p:cNvSpPr>
          <p:nvPr/>
        </p:nvSpPr>
        <p:spPr>
          <a:xfrm>
            <a:off x="6019800" y="449580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Ju</a:t>
            </a:r>
            <a:r>
              <a:rPr lang="es-ES" sz="9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 22 -26</a:t>
            </a:r>
            <a:endParaRPr sz="9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66DD8A5E-7820-46EB-B9C2-4FA748EF1EA0}"/>
              </a:ext>
            </a:extLst>
          </p:cNvPr>
          <p:cNvSpPr>
            <a:spLocks noGrp="1"/>
          </p:cNvSpPr>
          <p:nvPr/>
        </p:nvSpPr>
        <p:spPr>
          <a:xfrm>
            <a:off x="7258050" y="43624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1B"/>
                </a:solidFill>
                <a:latin typeface="Aptos"/>
                <a:ea typeface="Aptos"/>
                <a:cs typeface="Aptos"/>
              </a:rPr>
              <a:t>Complete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D1B46FB2-3BC4-4E78-A809-B98B5D444D4C}"/>
              </a:ext>
            </a:extLst>
          </p:cNvPr>
          <p:cNvSpPr>
            <a:spLocks noGrp="1"/>
          </p:cNvSpPr>
          <p:nvPr/>
        </p:nvSpPr>
        <p:spPr>
          <a:xfrm>
            <a:off x="7258050" y="46101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Remaining cases + docs.</a:t>
            </a:r>
          </a:p>
        </p:txBody>
      </p:sp>
      <p:sp>
        <p:nvSpPr>
          <p:cNvPr id="37" name="Rectángulo redondeado 36">
            <a:extLst>
              <a:ext uri="{FF2B5EF4-FFF2-40B4-BE49-F238E27FC236}">
                <a16:creationId xmlns:a16="http://schemas.microsoft.com/office/drawing/2014/main" id="{31186B56-C19A-4724-8F05-6E18C1B58885}"/>
              </a:ext>
            </a:extLst>
          </p:cNvPr>
          <p:cNvSpPr>
            <a:spLocks noGrp="1"/>
          </p:cNvSpPr>
          <p:nvPr/>
        </p:nvSpPr>
        <p:spPr>
          <a:xfrm>
            <a:off x="8858250" y="1676400"/>
            <a:ext cx="2343150" cy="3143250"/>
          </a:xfrm>
          <a:prstGeom prst="roundRect">
            <a:avLst>
              <a:gd name="adj" fmla="val 7317"/>
            </a:avLst>
          </a:prstGeom>
          <a:solidFill>
            <a:srgbClr val="DDEBE4"/>
          </a:solidFill>
          <a:ln w="9525">
            <a:solidFill>
              <a:srgbClr val="D9D1C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9D88C25-362F-413B-9F67-451B8E6EDCD5}"/>
              </a:ext>
            </a:extLst>
          </p:cNvPr>
          <p:cNvSpPr>
            <a:spLocks noGrp="1"/>
          </p:cNvSpPr>
          <p:nvPr/>
        </p:nvSpPr>
        <p:spPr>
          <a:xfrm>
            <a:off x="9124950" y="2000250"/>
            <a:ext cx="17907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6B4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After pending cases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B13D07D1-5775-4A7A-9C07-C94C825F7EB3}"/>
              </a:ext>
            </a:extLst>
          </p:cNvPr>
          <p:cNvSpPr>
            <a:spLocks noGrp="1"/>
          </p:cNvSpPr>
          <p:nvPr/>
        </p:nvSpPr>
        <p:spPr>
          <a:xfrm>
            <a:off x="9124950" y="2571750"/>
            <a:ext cx="1790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201B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Ju</a:t>
            </a:r>
            <a:r>
              <a:rPr lang="es-ES" sz="12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n 24</a:t>
            </a:r>
            <a:r>
              <a:rPr sz="12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-</a:t>
            </a:r>
            <a:r>
              <a:rPr lang="es-ES" sz="12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26</a:t>
            </a:r>
            <a:r>
              <a:rPr sz="1200" b="1" dirty="0">
                <a:solidFill>
                  <a:srgbClr val="17201B"/>
                </a:solidFill>
                <a:latin typeface="Aptos"/>
                <a:ea typeface="Aptos"/>
                <a:cs typeface="Aptos"/>
              </a:rPr>
              <a:t>, 2026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92BF662-B6C9-4F41-97C4-A19EE3330403}"/>
              </a:ext>
            </a:extLst>
          </p:cNvPr>
          <p:cNvSpPr>
            <a:spLocks noGrp="1"/>
          </p:cNvSpPr>
          <p:nvPr/>
        </p:nvSpPr>
        <p:spPr>
          <a:xfrm>
            <a:off x="9124950" y="29527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Migrate all flows into Behave feature files and tags.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AA1590B9-B44D-489D-A7B2-2F698CB463AA}"/>
              </a:ext>
            </a:extLst>
          </p:cNvPr>
          <p:cNvSpPr>
            <a:spLocks noGrp="1"/>
          </p:cNvSpPr>
          <p:nvPr/>
        </p:nvSpPr>
        <p:spPr>
          <a:xfrm>
            <a:off x="9124950" y="3676650"/>
            <a:ext cx="16764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E66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5F"/>
                </a:solidFill>
                <a:latin typeface="Aptos"/>
                <a:ea typeface="Aptos"/>
                <a:cs typeface="Aptos"/>
              </a:rPr>
              <a:t>Benefits: tag-based runs, cleaner regression, reusable steps, and clearer QA/dev collaboration.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82527C9F-B0B1-41A2-A564-720C66590690}"/>
              </a:ext>
            </a:extLst>
          </p:cNvPr>
          <p:cNvSpPr>
            <a:spLocks noGrp="1"/>
          </p:cNvSpPr>
          <p:nvPr/>
        </p:nvSpPr>
        <p:spPr>
          <a:xfrm>
            <a:off x="5924550" y="556260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6B4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dirty="0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Target readiness: Ju</a:t>
            </a:r>
            <a:r>
              <a:rPr lang="es-ES" sz="1500" b="1" dirty="0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n</a:t>
            </a:r>
            <a:r>
              <a:rPr sz="1500" b="1" dirty="0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ES" sz="1500" b="1" dirty="0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26</a:t>
            </a:r>
            <a:r>
              <a:rPr sz="1500" b="1" dirty="0">
                <a:solidFill>
                  <a:srgbClr val="0B6B4B"/>
                </a:solidFill>
                <a:latin typeface="Aptos Display"/>
                <a:ea typeface="Aptos Display"/>
                <a:cs typeface="Aptos Display"/>
              </a:rPr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1706497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6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rcRect l="24716" r="24716"/>
          <a:stretch>
            <a:fillRect/>
          </a:stretch>
        </p:blipFill>
        <p:spPr>
          <a:xfrm>
            <a:off x="7105650" y="0"/>
            <a:ext cx="5086350" cy="6858000"/>
          </a:xfrm>
          <a:prstGeom prst="roundRect">
            <a:avLst>
              <a:gd name="adj" fmla="val 2622"/>
            </a:avLst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FA9DE31-2441-4188-A553-E969ED2C9BEE}"/>
              </a:ext>
            </a:extLst>
          </p:cNvPr>
          <p:cNvSpPr>
            <a:spLocks noGrp="1"/>
          </p:cNvSpPr>
          <p:nvPr/>
        </p:nvSpPr>
        <p:spPr>
          <a:xfrm>
            <a:off x="6572250" y="0"/>
            <a:ext cx="5619750" cy="6858000"/>
          </a:xfrm>
          <a:prstGeom prst="rect">
            <a:avLst/>
          </a:prstGeom>
          <a:solidFill>
            <a:srgbClr val="0B6B4B">
              <a:alpha val="24000"/>
            </a:srgbClr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047AA1-7456-4D30-A956-E3044393BF14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4EE"/>
                </a:solidFill>
                <a:latin typeface="Aptos Display"/>
                <a:ea typeface="Aptos Display"/>
                <a:cs typeface="Aptos Display"/>
              </a:rPr>
              <a:t>Next: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CA5E048-1F5B-453B-A8FD-4A0F032F4E71}"/>
              </a:ext>
            </a:extLst>
          </p:cNvPr>
          <p:cNvSpPr>
            <a:spLocks noGrp="1"/>
          </p:cNvSpPr>
          <p:nvPr/>
        </p:nvSpPr>
        <p:spPr>
          <a:xfrm>
            <a:off x="723900" y="1485900"/>
            <a:ext cx="561975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Demonstration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B0BC0F2-6441-49ED-AAFB-44BCCA5C1E6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5381625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AF4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EAF4EE"/>
                </a:solidFill>
                <a:latin typeface="Aptos"/>
                <a:ea typeface="Aptos"/>
                <a:cs typeface="Aptos"/>
              </a:rPr>
              <a:t>We will move from the plan into the automation demo: login, flow execution, evidence capture, and the points where human or environment dependencies are intentionally controlled.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079FD7-00CE-4C27-B2F4-38429DC5C8A1}"/>
              </a:ext>
            </a:extLst>
          </p:cNvPr>
          <p:cNvSpPr>
            <a:spLocks noGrp="1"/>
          </p:cNvSpPr>
          <p:nvPr/>
        </p:nvSpPr>
        <p:spPr>
          <a:xfrm>
            <a:off x="762000" y="6076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DDEBE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DEBE4"/>
                </a:solidFill>
                <a:latin typeface="Aptos"/>
                <a:ea typeface="Aptos"/>
                <a:cs typeface="Aptos"/>
              </a:rPr>
              <a:t>Automation Plan | PetroSeven</a:t>
            </a:r>
          </a:p>
        </p:txBody>
      </p:sp>
    </p:spTree>
    <p:extLst>
      <p:ext uri="{BB962C8B-B14F-4D97-AF65-F5344CB8AC3E}">
        <p14:creationId xmlns:p14="http://schemas.microsoft.com/office/powerpoint/2010/main" val="203868227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786</Words>
  <Application>Microsoft Macintosh PowerPoint</Application>
  <DocSecurity>0</DocSecurity>
  <PresentationFormat>Panorámica</PresentationFormat>
  <Paragraphs>121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Calibri</vt:lpstr>
      <vt:lpstr>Calibri Light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Frank Vargas</cp:lastModifiedBy>
  <cp:revision>2</cp:revision>
  <dcterms:created xsi:type="dcterms:W3CDTF">2026-06-17T00:38:33Z</dcterms:created>
  <dcterms:modified xsi:type="dcterms:W3CDTF">2026-06-17T15:31:25Z</dcterms:modified>
</cp:coreProperties>
</file>